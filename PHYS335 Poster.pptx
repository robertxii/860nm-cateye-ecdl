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20116800" cy="3108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484"/>
    <a:srgbClr val="0F4862"/>
    <a:srgbClr val="104862"/>
    <a:srgbClr val="FAA32B"/>
    <a:srgbClr val="00BCD7"/>
    <a:srgbClr val="14759F"/>
    <a:srgbClr val="005F93"/>
    <a:srgbClr val="941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18"/>
    <p:restoredTop sz="94659"/>
  </p:normalViewPr>
  <p:slideViewPr>
    <p:cSldViewPr snapToGrid="0">
      <p:cViewPr>
        <p:scale>
          <a:sx n="90" d="100"/>
          <a:sy n="90" d="100"/>
        </p:scale>
        <p:origin x="3968" y="-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A03D22-2F26-C64D-8712-9AEDCA853B04}" type="datetimeFigureOut">
              <a:rPr lang="en-US" smtClean="0"/>
              <a:t>5/11/25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30463" y="1143000"/>
            <a:ext cx="19970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8E70AF-92BB-2247-A975-7A7E952F2B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96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8E70AF-92BB-2247-A975-7A7E952F2B0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2110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8760" y="5088045"/>
            <a:ext cx="17099280" cy="10823787"/>
          </a:xfrm>
        </p:spPr>
        <p:txBody>
          <a:bodyPr anchor="b"/>
          <a:lstStyle>
            <a:lvl1pPr algn="ctr">
              <a:defRPr sz="1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4600" y="16329239"/>
            <a:ext cx="15087600" cy="7506121"/>
          </a:xfrm>
        </p:spPr>
        <p:txBody>
          <a:bodyPr/>
          <a:lstStyle>
            <a:lvl1pPr marL="0" indent="0" algn="ctr">
              <a:buNone/>
              <a:defRPr sz="5280"/>
            </a:lvl1pPr>
            <a:lvl2pPr marL="1005840" indent="0" algn="ctr">
              <a:buNone/>
              <a:defRPr sz="4400"/>
            </a:lvl2pPr>
            <a:lvl3pPr marL="2011680" indent="0" algn="ctr">
              <a:buNone/>
              <a:defRPr sz="3960"/>
            </a:lvl3pPr>
            <a:lvl4pPr marL="3017520" indent="0" algn="ctr">
              <a:buNone/>
              <a:defRPr sz="3520"/>
            </a:lvl4pPr>
            <a:lvl5pPr marL="4023360" indent="0" algn="ctr">
              <a:buNone/>
              <a:defRPr sz="3520"/>
            </a:lvl5pPr>
            <a:lvl6pPr marL="5029200" indent="0" algn="ctr">
              <a:buNone/>
              <a:defRPr sz="3520"/>
            </a:lvl6pPr>
            <a:lvl7pPr marL="6035040" indent="0" algn="ctr">
              <a:buNone/>
              <a:defRPr sz="3520"/>
            </a:lvl7pPr>
            <a:lvl8pPr marL="7040880" indent="0" algn="ctr">
              <a:buNone/>
              <a:defRPr sz="3520"/>
            </a:lvl8pPr>
            <a:lvl9pPr marL="8046720" indent="0" algn="ctr">
              <a:buNone/>
              <a:defRPr sz="35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3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109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2554" y="7750819"/>
            <a:ext cx="17350740" cy="12932408"/>
          </a:xfrm>
        </p:spPr>
        <p:txBody>
          <a:bodyPr anchor="b"/>
          <a:lstStyle>
            <a:lvl1pPr>
              <a:defRPr sz="1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2554" y="20805572"/>
            <a:ext cx="17350740" cy="6800848"/>
          </a:xfrm>
        </p:spPr>
        <p:txBody>
          <a:bodyPr/>
          <a:lstStyle>
            <a:lvl1pPr marL="0" indent="0">
              <a:buNone/>
              <a:defRPr sz="5280">
                <a:solidFill>
                  <a:schemeClr val="tx1">
                    <a:tint val="82000"/>
                  </a:schemeClr>
                </a:solidFill>
              </a:defRPr>
            </a:lvl1pPr>
            <a:lvl2pPr marL="1005840" indent="0">
              <a:buNone/>
              <a:defRPr sz="4400">
                <a:solidFill>
                  <a:schemeClr val="tx1">
                    <a:tint val="82000"/>
                  </a:schemeClr>
                </a:solidFill>
              </a:defRPr>
            </a:lvl2pPr>
            <a:lvl3pPr marL="2011680" indent="0">
              <a:buNone/>
              <a:defRPr sz="3960">
                <a:solidFill>
                  <a:schemeClr val="tx1">
                    <a:tint val="82000"/>
                  </a:schemeClr>
                </a:solidFill>
              </a:defRPr>
            </a:lvl3pPr>
            <a:lvl4pPr marL="301752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4pPr>
            <a:lvl5pPr marL="402336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5pPr>
            <a:lvl6pPr marL="502920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6pPr>
            <a:lvl7pPr marL="603504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7pPr>
            <a:lvl8pPr marL="704088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8pPr>
            <a:lvl9pPr marL="8046720" indent="0">
              <a:buNone/>
              <a:defRPr sz="3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59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83030" y="8276166"/>
            <a:ext cx="8549640" cy="19726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84130" y="8276166"/>
            <a:ext cx="8549640" cy="197260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7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1655240"/>
            <a:ext cx="17350740" cy="60092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652" y="7621272"/>
            <a:ext cx="8510348" cy="3735068"/>
          </a:xfrm>
        </p:spPr>
        <p:txBody>
          <a:bodyPr anchor="b"/>
          <a:lstStyle>
            <a:lvl1pPr marL="0" indent="0">
              <a:buNone/>
              <a:defRPr sz="5280" b="1"/>
            </a:lvl1pPr>
            <a:lvl2pPr marL="1005840" indent="0">
              <a:buNone/>
              <a:defRPr sz="4400" b="1"/>
            </a:lvl2pPr>
            <a:lvl3pPr marL="2011680" indent="0">
              <a:buNone/>
              <a:defRPr sz="3960" b="1"/>
            </a:lvl3pPr>
            <a:lvl4pPr marL="3017520" indent="0">
              <a:buNone/>
              <a:defRPr sz="3520" b="1"/>
            </a:lvl4pPr>
            <a:lvl5pPr marL="4023360" indent="0">
              <a:buNone/>
              <a:defRPr sz="3520" b="1"/>
            </a:lvl5pPr>
            <a:lvl6pPr marL="5029200" indent="0">
              <a:buNone/>
              <a:defRPr sz="3520" b="1"/>
            </a:lvl6pPr>
            <a:lvl7pPr marL="6035040" indent="0">
              <a:buNone/>
              <a:defRPr sz="3520" b="1"/>
            </a:lvl7pPr>
            <a:lvl8pPr marL="7040880" indent="0">
              <a:buNone/>
              <a:defRPr sz="3520" b="1"/>
            </a:lvl8pPr>
            <a:lvl9pPr marL="8046720" indent="0">
              <a:buNone/>
              <a:defRPr sz="3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5652" y="11356340"/>
            <a:ext cx="8510348" cy="167034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184131" y="7621272"/>
            <a:ext cx="8552260" cy="3735068"/>
          </a:xfrm>
        </p:spPr>
        <p:txBody>
          <a:bodyPr anchor="b"/>
          <a:lstStyle>
            <a:lvl1pPr marL="0" indent="0">
              <a:buNone/>
              <a:defRPr sz="5280" b="1"/>
            </a:lvl1pPr>
            <a:lvl2pPr marL="1005840" indent="0">
              <a:buNone/>
              <a:defRPr sz="4400" b="1"/>
            </a:lvl2pPr>
            <a:lvl3pPr marL="2011680" indent="0">
              <a:buNone/>
              <a:defRPr sz="3960" b="1"/>
            </a:lvl3pPr>
            <a:lvl4pPr marL="3017520" indent="0">
              <a:buNone/>
              <a:defRPr sz="3520" b="1"/>
            </a:lvl4pPr>
            <a:lvl5pPr marL="4023360" indent="0">
              <a:buNone/>
              <a:defRPr sz="3520" b="1"/>
            </a:lvl5pPr>
            <a:lvl6pPr marL="5029200" indent="0">
              <a:buNone/>
              <a:defRPr sz="3520" b="1"/>
            </a:lvl6pPr>
            <a:lvl7pPr marL="6035040" indent="0">
              <a:buNone/>
              <a:defRPr sz="3520" b="1"/>
            </a:lvl7pPr>
            <a:lvl8pPr marL="7040880" indent="0">
              <a:buNone/>
              <a:defRPr sz="3520" b="1"/>
            </a:lvl8pPr>
            <a:lvl9pPr marL="8046720" indent="0">
              <a:buNone/>
              <a:defRPr sz="35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184131" y="11356340"/>
            <a:ext cx="8552260" cy="167034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9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4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344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2072640"/>
            <a:ext cx="6488192" cy="7254240"/>
          </a:xfrm>
        </p:spPr>
        <p:txBody>
          <a:bodyPr anchor="b"/>
          <a:lstStyle>
            <a:lvl1pPr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52260" y="4476333"/>
            <a:ext cx="10184130" cy="22093767"/>
          </a:xfrm>
        </p:spPr>
        <p:txBody>
          <a:bodyPr/>
          <a:lstStyle>
            <a:lvl1pPr>
              <a:defRPr sz="7040"/>
            </a:lvl1pPr>
            <a:lvl2pPr>
              <a:defRPr sz="6160"/>
            </a:lvl2pPr>
            <a:lvl3pPr>
              <a:defRPr sz="5280"/>
            </a:lvl3pPr>
            <a:lvl4pPr>
              <a:defRPr sz="4400"/>
            </a:lvl4pPr>
            <a:lvl5pPr>
              <a:defRPr sz="4400"/>
            </a:lvl5pPr>
            <a:lvl6pPr>
              <a:defRPr sz="4400"/>
            </a:lvl6pPr>
            <a:lvl7pPr>
              <a:defRPr sz="4400"/>
            </a:lvl7pPr>
            <a:lvl8pPr>
              <a:defRPr sz="4400"/>
            </a:lvl8pPr>
            <a:lvl9pPr>
              <a:defRPr sz="4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0" y="9326880"/>
            <a:ext cx="6488192" cy="17279199"/>
          </a:xfrm>
        </p:spPr>
        <p:txBody>
          <a:bodyPr/>
          <a:lstStyle>
            <a:lvl1pPr marL="0" indent="0">
              <a:buNone/>
              <a:defRPr sz="3520"/>
            </a:lvl1pPr>
            <a:lvl2pPr marL="1005840" indent="0">
              <a:buNone/>
              <a:defRPr sz="3080"/>
            </a:lvl2pPr>
            <a:lvl3pPr marL="2011680" indent="0">
              <a:buNone/>
              <a:defRPr sz="2640"/>
            </a:lvl3pPr>
            <a:lvl4pPr marL="3017520" indent="0">
              <a:buNone/>
              <a:defRPr sz="2200"/>
            </a:lvl4pPr>
            <a:lvl5pPr marL="4023360" indent="0">
              <a:buNone/>
              <a:defRPr sz="2200"/>
            </a:lvl5pPr>
            <a:lvl6pPr marL="5029200" indent="0">
              <a:buNone/>
              <a:defRPr sz="2200"/>
            </a:lvl6pPr>
            <a:lvl7pPr marL="6035040" indent="0">
              <a:buNone/>
              <a:defRPr sz="2200"/>
            </a:lvl7pPr>
            <a:lvl8pPr marL="7040880" indent="0">
              <a:buNone/>
              <a:defRPr sz="2200"/>
            </a:lvl8pPr>
            <a:lvl9pPr marL="8046720" indent="0">
              <a:buNone/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306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650" y="2072640"/>
            <a:ext cx="6488192" cy="7254240"/>
          </a:xfrm>
        </p:spPr>
        <p:txBody>
          <a:bodyPr anchor="b"/>
          <a:lstStyle>
            <a:lvl1pPr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52260" y="4476333"/>
            <a:ext cx="10184130" cy="22093767"/>
          </a:xfrm>
        </p:spPr>
        <p:txBody>
          <a:bodyPr anchor="t"/>
          <a:lstStyle>
            <a:lvl1pPr marL="0" indent="0">
              <a:buNone/>
              <a:defRPr sz="7040"/>
            </a:lvl1pPr>
            <a:lvl2pPr marL="1005840" indent="0">
              <a:buNone/>
              <a:defRPr sz="6160"/>
            </a:lvl2pPr>
            <a:lvl3pPr marL="2011680" indent="0">
              <a:buNone/>
              <a:defRPr sz="5280"/>
            </a:lvl3pPr>
            <a:lvl4pPr marL="3017520" indent="0">
              <a:buNone/>
              <a:defRPr sz="4400"/>
            </a:lvl4pPr>
            <a:lvl5pPr marL="4023360" indent="0">
              <a:buNone/>
              <a:defRPr sz="4400"/>
            </a:lvl5pPr>
            <a:lvl6pPr marL="5029200" indent="0">
              <a:buNone/>
              <a:defRPr sz="4400"/>
            </a:lvl6pPr>
            <a:lvl7pPr marL="6035040" indent="0">
              <a:buNone/>
              <a:defRPr sz="4400"/>
            </a:lvl7pPr>
            <a:lvl8pPr marL="7040880" indent="0">
              <a:buNone/>
              <a:defRPr sz="4400"/>
            </a:lvl8pPr>
            <a:lvl9pPr marL="8046720" indent="0">
              <a:buNone/>
              <a:defRPr sz="4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650" y="9326880"/>
            <a:ext cx="6488192" cy="17279199"/>
          </a:xfrm>
        </p:spPr>
        <p:txBody>
          <a:bodyPr/>
          <a:lstStyle>
            <a:lvl1pPr marL="0" indent="0">
              <a:buNone/>
              <a:defRPr sz="3520"/>
            </a:lvl1pPr>
            <a:lvl2pPr marL="1005840" indent="0">
              <a:buNone/>
              <a:defRPr sz="3080"/>
            </a:lvl2pPr>
            <a:lvl3pPr marL="2011680" indent="0">
              <a:buNone/>
              <a:defRPr sz="2640"/>
            </a:lvl3pPr>
            <a:lvl4pPr marL="3017520" indent="0">
              <a:buNone/>
              <a:defRPr sz="2200"/>
            </a:lvl4pPr>
            <a:lvl5pPr marL="4023360" indent="0">
              <a:buNone/>
              <a:defRPr sz="2200"/>
            </a:lvl5pPr>
            <a:lvl6pPr marL="5029200" indent="0">
              <a:buNone/>
              <a:defRPr sz="2200"/>
            </a:lvl6pPr>
            <a:lvl7pPr marL="6035040" indent="0">
              <a:buNone/>
              <a:defRPr sz="2200"/>
            </a:lvl7pPr>
            <a:lvl8pPr marL="7040880" indent="0">
              <a:buNone/>
              <a:defRPr sz="2200"/>
            </a:lvl8pPr>
            <a:lvl9pPr marL="8046720" indent="0">
              <a:buNone/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5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094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396086" y="1655233"/>
            <a:ext cx="4337685" cy="263469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83031" y="1655233"/>
            <a:ext cx="12761595" cy="263469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902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83030" y="1655240"/>
            <a:ext cx="17350740" cy="60092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3030" y="8276166"/>
            <a:ext cx="17350740" cy="19726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83030" y="28815460"/>
            <a:ext cx="452628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0CFFF0-40FD-2540-BA14-0352E5842461}" type="datetimeFigureOut">
              <a:rPr lang="en-US" smtClean="0"/>
              <a:t>5/11/25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663690" y="28815460"/>
            <a:ext cx="678942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4207490" y="28815460"/>
            <a:ext cx="4526280" cy="16552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CBC4B6-BD0A-7544-B455-F9F6C30469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6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011680" rtl="0" eaLnBrk="1" latinLnBrk="0" hangingPunct="1">
        <a:lnSpc>
          <a:spcPct val="90000"/>
        </a:lnSpc>
        <a:spcBef>
          <a:spcPct val="0"/>
        </a:spcBef>
        <a:buNone/>
        <a:defRPr sz="96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2920" indent="-502920" algn="l" defTabSz="2011680" rtl="0" eaLnBrk="1" latinLnBrk="0" hangingPunct="1">
        <a:lnSpc>
          <a:spcPct val="90000"/>
        </a:lnSpc>
        <a:spcBef>
          <a:spcPts val="2200"/>
        </a:spcBef>
        <a:buFont typeface="Arial" panose="020B0604020202020204" pitchFamily="34" charset="0"/>
        <a:buChar char="•"/>
        <a:defRPr sz="6160" kern="1200">
          <a:solidFill>
            <a:schemeClr val="tx1"/>
          </a:solidFill>
          <a:latin typeface="+mn-lt"/>
          <a:ea typeface="+mn-ea"/>
          <a:cs typeface="+mn-cs"/>
        </a:defRPr>
      </a:lvl1pPr>
      <a:lvl2pPr marL="150876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5280" kern="1200">
          <a:solidFill>
            <a:schemeClr val="tx1"/>
          </a:solidFill>
          <a:latin typeface="+mn-lt"/>
          <a:ea typeface="+mn-ea"/>
          <a:cs typeface="+mn-cs"/>
        </a:defRPr>
      </a:lvl2pPr>
      <a:lvl3pPr marL="251460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4400" kern="1200">
          <a:solidFill>
            <a:schemeClr val="tx1"/>
          </a:solidFill>
          <a:latin typeface="+mn-lt"/>
          <a:ea typeface="+mn-ea"/>
          <a:cs typeface="+mn-cs"/>
        </a:defRPr>
      </a:lvl3pPr>
      <a:lvl4pPr marL="352044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4pPr>
      <a:lvl5pPr marL="452628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5pPr>
      <a:lvl6pPr marL="553212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6pPr>
      <a:lvl7pPr marL="653796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7pPr>
      <a:lvl8pPr marL="754380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8pPr>
      <a:lvl9pPr marL="8549640" indent="-502920" algn="l" defTabSz="201168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1pPr>
      <a:lvl2pPr marL="100584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2pPr>
      <a:lvl3pPr marL="201168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3pPr>
      <a:lvl4pPr marL="301752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4pPr>
      <a:lvl5pPr marL="402336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6pPr>
      <a:lvl7pPr marL="603504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7pPr>
      <a:lvl8pPr marL="704088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8pPr>
      <a:lvl9pPr marL="8046720" algn="l" defTabSz="2011680" rtl="0" eaLnBrk="1" latinLnBrk="0" hangingPunct="1">
        <a:defRPr sz="3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2.emf"/><Relationship Id="rId3" Type="http://schemas.openxmlformats.org/officeDocument/2006/relationships/image" Target="../media/image1.emf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1.emf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0.png"/><Relationship Id="rId5" Type="http://schemas.openxmlformats.org/officeDocument/2006/relationships/image" Target="../media/image3.emf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4.svg"/><Relationship Id="rId10" Type="http://schemas.openxmlformats.org/officeDocument/2006/relationships/image" Target="../media/image8.png"/><Relationship Id="rId19" Type="http://schemas.openxmlformats.org/officeDocument/2006/relationships/image" Target="../media/image17.jpeg"/><Relationship Id="rId4" Type="http://schemas.openxmlformats.org/officeDocument/2006/relationships/image" Target="../media/image2.emf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18.png"/><Relationship Id="rId27" Type="http://schemas.openxmlformats.org/officeDocument/2006/relationships/image" Target="../media/image23.png"/><Relationship Id="rId30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AB1F89-8830-7034-159C-9D358A290232}"/>
              </a:ext>
            </a:extLst>
          </p:cNvPr>
          <p:cNvGrpSpPr/>
          <p:nvPr/>
        </p:nvGrpSpPr>
        <p:grpSpPr>
          <a:xfrm>
            <a:off x="10157661" y="23263229"/>
            <a:ext cx="9668790" cy="2535595"/>
            <a:chOff x="982206" y="18251600"/>
            <a:chExt cx="16756065" cy="43942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86AC970-5E3C-50D0-2969-54E22FD22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2206" y="18251600"/>
              <a:ext cx="5854700" cy="43942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984B907D-C4AE-7781-5056-C939E7A22CA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883571" y="18251600"/>
              <a:ext cx="5854700" cy="4394200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E7EA6D9-4500-0705-180D-43E9EE11E74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32889" y="18251600"/>
              <a:ext cx="5854700" cy="4394200"/>
            </a:xfrm>
            <a:prstGeom prst="rect">
              <a:avLst/>
            </a:prstGeom>
          </p:spPr>
        </p:pic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A1F8C00-6B15-C54A-8B4A-CA1C80E52B28}"/>
              </a:ext>
            </a:extLst>
          </p:cNvPr>
          <p:cNvSpPr txBox="1"/>
          <p:nvPr/>
        </p:nvSpPr>
        <p:spPr>
          <a:xfrm>
            <a:off x="0" y="72522"/>
            <a:ext cx="2011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00" b="1" dirty="0">
                <a:effectLst/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Interference Filter External Cavity Diode Laser (ECDL) with a Cateye Configuration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C48014-2139-8976-5047-51ECBC63B2D4}"/>
              </a:ext>
            </a:extLst>
          </p:cNvPr>
          <p:cNvSpPr/>
          <p:nvPr/>
        </p:nvSpPr>
        <p:spPr>
          <a:xfrm>
            <a:off x="295710" y="1715233"/>
            <a:ext cx="9762690" cy="539097"/>
          </a:xfrm>
          <a:prstGeom prst="rect">
            <a:avLst/>
          </a:prstGeom>
          <a:solidFill>
            <a:srgbClr val="1E64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Goals and Motivation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7B1B8C6-EF3F-794B-3E51-07E69FF01929}"/>
              </a:ext>
            </a:extLst>
          </p:cNvPr>
          <p:cNvSpPr/>
          <p:nvPr/>
        </p:nvSpPr>
        <p:spPr>
          <a:xfrm>
            <a:off x="10058399" y="6207121"/>
            <a:ext cx="9762690" cy="540000"/>
          </a:xfrm>
          <a:prstGeom prst="rect">
            <a:avLst/>
          </a:prstGeom>
          <a:solidFill>
            <a:srgbClr val="1E64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Design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7B9D84-2356-CF62-77C2-F946A239A7A7}"/>
              </a:ext>
            </a:extLst>
          </p:cNvPr>
          <p:cNvSpPr/>
          <p:nvPr/>
        </p:nvSpPr>
        <p:spPr>
          <a:xfrm>
            <a:off x="295710" y="11810433"/>
            <a:ext cx="9762690" cy="540000"/>
          </a:xfrm>
          <a:prstGeom prst="rect">
            <a:avLst/>
          </a:prstGeom>
          <a:solidFill>
            <a:srgbClr val="1E64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Theoretical Basis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CE8C169-E157-0BED-0481-6E7F68168104}"/>
              </a:ext>
            </a:extLst>
          </p:cNvPr>
          <p:cNvSpPr/>
          <p:nvPr/>
        </p:nvSpPr>
        <p:spPr>
          <a:xfrm>
            <a:off x="10058399" y="20794469"/>
            <a:ext cx="9762690" cy="540000"/>
          </a:xfrm>
          <a:prstGeom prst="rect">
            <a:avLst/>
          </a:prstGeom>
          <a:solidFill>
            <a:srgbClr val="1E64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Helvetica Neue Condensed" panose="02000503000000020004" pitchFamily="2" charset="0"/>
                <a:ea typeface="Helvetica Neue Condensed" panose="02000503000000020004" pitchFamily="2" charset="0"/>
                <a:cs typeface="Helvetica Neue Condensed" panose="02000503000000020004" pitchFamily="2" charset="0"/>
              </a:rPr>
              <a:t>Result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F39D378-3BBD-ADEC-11DE-E0BCC4855A2E}"/>
              </a:ext>
            </a:extLst>
          </p:cNvPr>
          <p:cNvSpPr>
            <a:spLocks/>
          </p:cNvSpPr>
          <p:nvPr/>
        </p:nvSpPr>
        <p:spPr>
          <a:xfrm>
            <a:off x="0" y="786580"/>
            <a:ext cx="20116800" cy="8656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32000" tIns="36000" rtlCol="0" anchor="t" anchorCtr="0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Robert Xi</a:t>
            </a:r>
            <a:r>
              <a:rPr lang="en-US" sz="2000" baseline="30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Geoffrey Zheng</a:t>
            </a:r>
            <a:r>
              <a:rPr lang="en-US" sz="2000" baseline="30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Mangesh Bhattarai</a:t>
            </a:r>
            <a:r>
              <a:rPr lang="en-US" sz="2000" baseline="30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2</a:t>
            </a:r>
            <a:r>
              <a:rPr lang="en-US" sz="2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, David DeMille</a:t>
            </a:r>
            <a:r>
              <a:rPr lang="en-US" sz="2000" baseline="30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1, 2 </a:t>
            </a:r>
            <a:endParaRPr lang="en-US" sz="2000" dirty="0">
              <a:solidFill>
                <a:schemeClr val="tx1"/>
              </a:solidFill>
              <a:latin typeface="Helvetica Neue" panose="02000503000000020004" pitchFamily="2" charset="0"/>
              <a:ea typeface="Helvetica Neue" panose="02000503000000020004" pitchFamily="2" charset="0"/>
              <a:cs typeface="Helvetica Neue" panose="02000503000000020004" pitchFamily="2" charset="0"/>
            </a:endParaRPr>
          </a:p>
          <a:p>
            <a:pPr algn="ctr"/>
            <a:r>
              <a:rPr lang="en-US" sz="900" baseline="30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 </a:t>
            </a:r>
            <a:br>
              <a:rPr lang="en-US" sz="2000" baseline="30000" dirty="0">
                <a:solidFill>
                  <a:schemeClr val="tx1"/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</a:br>
            <a:r>
              <a:rPr lang="en-US" sz="2000" baseline="30000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1. James Franck Institute and Department of Physics, University of Chicago, IL 60637</a:t>
            </a:r>
          </a:p>
          <a:p>
            <a:pPr algn="ctr"/>
            <a:r>
              <a:rPr lang="en-US" sz="2000" baseline="30000" dirty="0">
                <a:solidFill>
                  <a:schemeClr val="tx1"/>
                </a:solidFill>
                <a:latin typeface="Helvetica Neue Thin" panose="020B0403020202020204" pitchFamily="34" charset="0"/>
                <a:ea typeface="Helvetica Neue Thin" panose="020B0403020202020204" pitchFamily="34" charset="0"/>
                <a:cs typeface="Helvetica Neue" panose="02000503000000020004" pitchFamily="2" charset="0"/>
              </a:rPr>
              <a:t>2. Physics Division, Argonne National Laboratory, Argonne IL 640439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00744E7-DC78-14B0-D4D8-D02979FFADF7}"/>
              </a:ext>
            </a:extLst>
          </p:cNvPr>
          <p:cNvGrpSpPr/>
          <p:nvPr/>
        </p:nvGrpSpPr>
        <p:grpSpPr>
          <a:xfrm>
            <a:off x="295710" y="2343962"/>
            <a:ext cx="9735569" cy="9134196"/>
            <a:chOff x="295710" y="4224377"/>
            <a:chExt cx="9735569" cy="91341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1D9D88C-F440-B04D-375E-90A375BECC9E}"/>
                    </a:ext>
                  </a:extLst>
                </p:cNvPr>
                <p:cNvSpPr txBox="1"/>
                <p:nvPr/>
              </p:nvSpPr>
              <p:spPr>
                <a:xfrm>
                  <a:off x="295710" y="4224377"/>
                  <a:ext cx="9735569" cy="42981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750"/>
                    </a:spcAft>
                    <a:buNone/>
                  </a:pPr>
                  <a:r>
                    <a:rPr lang="en-US" sz="3600" b="1" dirty="0">
                      <a:solidFill>
                        <a:srgbClr val="0F4862"/>
                      </a:solidFill>
                      <a:effectLst/>
                      <a:latin typeface="Helvetica Neue Condensed" panose="02000503000000020004" pitchFamily="2" charset="0"/>
                      <a:ea typeface="Helvetica Neue Condensed" panose="02000503000000020004" pitchFamily="2" charset="0"/>
                      <a:cs typeface="Helvetica Neue Condensed" panose="02000503000000020004" pitchFamily="2" charset="0"/>
                    </a:rPr>
                    <a:t>ZOMBIES: Use </a:t>
                  </a:r>
                  <a:r>
                    <a:rPr lang="en-US" sz="3600" b="1" baseline="30000" dirty="0">
                      <a:solidFill>
                        <a:srgbClr val="0F4862"/>
                      </a:solidFill>
                      <a:effectLst/>
                      <a:latin typeface="Helvetica Neue Condensed" panose="02000503000000020004" pitchFamily="2" charset="0"/>
                      <a:ea typeface="Helvetica Neue Condensed" panose="02000503000000020004" pitchFamily="2" charset="0"/>
                      <a:cs typeface="Helvetica Neue Condensed" panose="02000503000000020004" pitchFamily="2" charset="0"/>
                    </a:rPr>
                    <a:t>137</a:t>
                  </a:r>
                  <a:r>
                    <a:rPr lang="en-US" sz="3600" b="1" dirty="0">
                      <a:solidFill>
                        <a:srgbClr val="0F4862"/>
                      </a:solidFill>
                      <a:effectLst/>
                      <a:latin typeface="Helvetica Neue Condensed" panose="02000503000000020004" pitchFamily="2" charset="0"/>
                      <a:ea typeface="Helvetica Neue Condensed" panose="02000503000000020004" pitchFamily="2" charset="0"/>
                      <a:cs typeface="Helvetica Neue Condensed" panose="02000503000000020004" pitchFamily="2" charset="0"/>
                    </a:rPr>
                    <a:t>Ba</a:t>
                  </a:r>
                  <a:r>
                    <a:rPr lang="en-US" sz="3600" b="1" baseline="30000" dirty="0">
                      <a:solidFill>
                        <a:srgbClr val="0F4862"/>
                      </a:solidFill>
                      <a:effectLst/>
                      <a:latin typeface="Helvetica Neue Condensed" panose="02000503000000020004" pitchFamily="2" charset="0"/>
                      <a:ea typeface="Helvetica Neue Condensed" panose="02000503000000020004" pitchFamily="2" charset="0"/>
                      <a:cs typeface="Helvetica Neue Condensed" panose="02000503000000020004" pitchFamily="2" charset="0"/>
                    </a:rPr>
                    <a:t>19</a:t>
                  </a:r>
                  <a:r>
                    <a:rPr lang="en-US" sz="3600" b="1" dirty="0">
                      <a:solidFill>
                        <a:srgbClr val="0F4862"/>
                      </a:solidFill>
                      <a:effectLst/>
                      <a:latin typeface="Helvetica Neue Condensed" panose="02000503000000020004" pitchFamily="2" charset="0"/>
                      <a:ea typeface="Helvetica Neue Condensed" panose="02000503000000020004" pitchFamily="2" charset="0"/>
                      <a:cs typeface="Helvetica Neue Condensed" panose="02000503000000020004" pitchFamily="2" charset="0"/>
                    </a:rPr>
                    <a:t>F to measure nuclear spin-dependent parity violation (NSD-PV) effect</a:t>
                  </a:r>
                </a:p>
                <a:p>
                  <a:r>
                    <a:rPr lang="en-US" sz="2400" b="1" i="1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Rotational Cooling (Pump population into single hyperfine level)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Laser optically pumps </a:t>
                  </a:r>
                  <a:r>
                    <a:rPr lang="en-US" sz="2400" baseline="300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137</a:t>
                  </a: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Ba</a:t>
                  </a:r>
                  <a:r>
                    <a:rPr lang="en-US" sz="2400" baseline="300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19</a:t>
                  </a: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F molecules from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l-GR" sz="24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=0;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24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to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1/2</m:t>
                          </m:r>
                        </m:sub>
                      </m:sSub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5/2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, leaving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l-G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=0;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=3/2)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 hyperfine level unaddressed.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Spontaneously decay back to ground state, accumulate population to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l-G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=0;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=3/2)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.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Simulation shows </a:t>
                  </a:r>
                  <a14:m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a14:m>
                  <a:r>
                    <a:rPr lang="en-US" sz="2400" b="1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30</a:t>
                  </a: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 gain in the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l-GR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=0;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sup>
                      </m:sSup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𝐽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=3/2) 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population.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21D9D88C-F440-B04D-375E-90A375BECC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710" y="4224377"/>
                  <a:ext cx="9735569" cy="4298164"/>
                </a:xfrm>
                <a:prstGeom prst="rect">
                  <a:avLst/>
                </a:prstGeom>
                <a:blipFill>
                  <a:blip r:embed="rId6"/>
                  <a:stretch>
                    <a:fillRect l="-1953" t="-2059" r="-260" b="-20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9" name="Picture 28" descr="A diagram of a graph&#10;&#10;AI-generated content may be incorrect.">
              <a:extLst>
                <a:ext uri="{FF2B5EF4-FFF2-40B4-BE49-F238E27FC236}">
                  <a16:creationId xmlns:a16="http://schemas.microsoft.com/office/drawing/2014/main" id="{0B7A1C7B-8CF5-87AF-99E0-A263A3BB3BE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79309" y="8451843"/>
              <a:ext cx="4253371" cy="4906730"/>
            </a:xfrm>
            <a:prstGeom prst="rect">
              <a:avLst/>
            </a:prstGeom>
          </p:spPr>
        </p:pic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1770C7-35A2-F5F4-0535-F4417901F953}"/>
                </a:ext>
              </a:extLst>
            </p:cNvPr>
            <p:cNvSpPr txBox="1"/>
            <p:nvPr/>
          </p:nvSpPr>
          <p:spPr>
            <a:xfrm>
              <a:off x="5351583" y="8711671"/>
              <a:ext cx="4465806" cy="427809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i="1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rPr>
                <a:t>Laser Requireme</a:t>
              </a:r>
              <a:r>
                <a:rPr lang="en-US" sz="2400" b="1" i="1" dirty="0">
                  <a:solidFill>
                    <a:srgbClr val="000000"/>
                  </a:solidFill>
                  <a:latin typeface="Helvetica Neue" panose="02000503000000020004" pitchFamily="2" charset="0"/>
                </a:rPr>
                <a:t>nts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Helvetica Neue" panose="02000503000000020004" pitchFamily="2" charset="0"/>
                </a:rPr>
                <a:t>Narrow linewidth (~100 kHz)</a:t>
              </a:r>
            </a:p>
            <a:p>
              <a:pPr lvl="1"/>
              <a:r>
                <a:rPr lang="en-US" sz="2000" i="1" dirty="0">
                  <a:solidFill>
                    <a:srgbClr val="000000"/>
                  </a:solidFill>
                  <a:latin typeface="Helvetica Neue" panose="02000503000000020004" pitchFamily="2" charset="0"/>
                </a:rPr>
                <a:t>Similar Level of precision would mean measuring earth-moon distance with an uncertainty of 1mm!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</a:rPr>
                <a:t>Wide</a:t>
              </a:r>
              <a:r>
                <a:rPr lang="en-US" sz="2400" dirty="0">
                  <a:solidFill>
                    <a:srgbClr val="000000"/>
                  </a:solidFill>
                  <a:latin typeface="Helvetica Neue" panose="02000503000000020004" pitchFamily="2" charset="0"/>
                </a:rPr>
                <a:t> tunability (~30GHz)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Helvetica Neue" panose="02000503000000020004" pitchFamily="2" charset="0"/>
                </a:rPr>
                <a:t>High stability.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Helvetica Neue" panose="02000503000000020004" pitchFamily="2" charset="0"/>
                </a:rPr>
                <a:t>Power output (~100mW)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solidFill>
                    <a:srgbClr val="000000"/>
                  </a:solidFill>
                  <a:latin typeface="Helvetica Neue" panose="02000503000000020004" pitchFamily="2" charset="0"/>
                </a:rPr>
                <a:t>Ease of use, small size, reproducible.</a:t>
              </a:r>
              <a:endParaRPr lang="en-US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endParaRPr>
            </a:p>
            <a:p>
              <a:endParaRPr lang="en-US" sz="2400" b="1" i="1" dirty="0">
                <a:solidFill>
                  <a:srgbClr val="000000"/>
                </a:solidFill>
                <a:effectLst/>
                <a:latin typeface="Helvetica Neue" panose="02000503000000020004" pitchFamily="2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C01E081-2775-F724-BB14-F56863CA0527}"/>
              </a:ext>
            </a:extLst>
          </p:cNvPr>
          <p:cNvGrpSpPr/>
          <p:nvPr/>
        </p:nvGrpSpPr>
        <p:grpSpPr>
          <a:xfrm>
            <a:off x="343265" y="12496421"/>
            <a:ext cx="9715134" cy="6388808"/>
            <a:chOff x="343265" y="13319725"/>
            <a:chExt cx="9715134" cy="638880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132ECE61-B8D8-EEB1-A7DE-6ED2B62B5E4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43265" y="16993717"/>
              <a:ext cx="4426189" cy="2302459"/>
            </a:xfrm>
            <a:prstGeom prst="rect">
              <a:avLst/>
            </a:prstGeom>
          </p:spPr>
        </p:pic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F2EE487-3EE4-8671-E21F-979DEEB3FBFF}"/>
                </a:ext>
              </a:extLst>
            </p:cNvPr>
            <p:cNvSpPr txBox="1"/>
            <p:nvPr/>
          </p:nvSpPr>
          <p:spPr>
            <a:xfrm>
              <a:off x="428270" y="13319725"/>
              <a:ext cx="382611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1E6484"/>
                  </a:solidFill>
                  <a:effectLst/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Fabry-Perot Cavity</a:t>
              </a:r>
              <a:endParaRPr lang="en-US" sz="3600" dirty="0">
                <a:solidFill>
                  <a:srgbClr val="1E6484"/>
                </a:solidFill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F472CA1-2D08-BA5D-DF18-77791F3CDDA8}"/>
                </a:ext>
              </a:extLst>
            </p:cNvPr>
            <p:cNvSpPr txBox="1"/>
            <p:nvPr/>
          </p:nvSpPr>
          <p:spPr>
            <a:xfrm>
              <a:off x="428271" y="13862101"/>
              <a:ext cx="9630128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An optical resonator consisting of </a:t>
              </a:r>
              <a:r>
                <a:rPr lang="en-US" sz="2400" b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two parallel, highly reflective mirrors </a:t>
              </a:r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that reflect light back and forth, forming standing waves at specific resonant frequencies.</a:t>
              </a:r>
            </a:p>
          </p:txBody>
        </p:sp>
        <p:pic>
          <p:nvPicPr>
            <p:cNvPr id="10" name="Picture 9" descr="A black math equation with black numbers&#10;&#10;AI-generated content may be incorrect.">
              <a:extLst>
                <a:ext uri="{FF2B5EF4-FFF2-40B4-BE49-F238E27FC236}">
                  <a16:creationId xmlns:a16="http://schemas.microsoft.com/office/drawing/2014/main" id="{79F6FB08-2F22-4B9B-BA70-8BF462554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135988" y="15095047"/>
              <a:ext cx="3530600" cy="78740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7A0312A-2598-1B47-4878-1601E4127F86}"/>
                    </a:ext>
                  </a:extLst>
                </p:cNvPr>
                <p:cNvSpPr txBox="1"/>
                <p:nvPr/>
              </p:nvSpPr>
              <p:spPr>
                <a:xfrm>
                  <a:off x="428270" y="15939695"/>
                  <a:ext cx="9630129" cy="83099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spcAft>
                      <a:spcPts val="750"/>
                    </a:spcAft>
                  </a:pP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where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 is the coefficient of </a:t>
                  </a:r>
                  <a:r>
                    <a:rPr lang="en-US" sz="2400" b="1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finesse</a:t>
                  </a: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 for the cavity. 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n-US" sz="2400" b="0" i="1" smtClean="0">
                              <a:solidFill>
                                <a:srgbClr val="00000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</m:e>
                      </m:d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𝜋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𝑛𝐿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</m:t>
                      </m:r>
                    </m:oMath>
                  </a14:m>
                  <a:r>
                    <a:rPr lang="en-US" sz="2400" dirty="0"/>
                    <a:t>, </a:t>
                  </a:r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</m:t>
                      </m:r>
                    </m:oMath>
                  </a14:m>
                  <a:r>
                    <a:rPr lang="en-US" sz="2400" dirty="0"/>
                    <a:t> is the </a:t>
                  </a:r>
                  <a:r>
                    <a:rPr lang="en-US" sz="2400" b="1" dirty="0"/>
                    <a:t>cavity length</a:t>
                  </a:r>
                  <a:r>
                    <a:rPr lang="en-US" sz="2400" dirty="0"/>
                    <a:t>, and </a:t>
                  </a:r>
                  <a14:m>
                    <m:oMath xmlns:m="http://schemas.openxmlformats.org/officeDocument/2006/math">
                      <m:r>
                        <a:rPr 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𝑛</m:t>
                      </m:r>
                    </m:oMath>
                  </a14:m>
                  <a:r>
                    <a:rPr lang="en-US" sz="2400" dirty="0"/>
                    <a:t> is the refractive index of the cavity medium.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E7A0312A-2598-1B47-4878-1601E4127F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270" y="15939695"/>
                  <a:ext cx="9630129" cy="830997"/>
                </a:xfrm>
                <a:prstGeom prst="rect">
                  <a:avLst/>
                </a:prstGeom>
                <a:blipFill>
                  <a:blip r:embed="rId10"/>
                  <a:stretch>
                    <a:fillRect l="-922" t="-9091"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691809D3-9157-2ED4-4D6E-42F4EEAC9B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578268" y="16840358"/>
              <a:ext cx="5307655" cy="2868175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FA2107F0-7CFC-5757-C3E6-3172860C801C}"/>
              </a:ext>
            </a:extLst>
          </p:cNvPr>
          <p:cNvGrpSpPr/>
          <p:nvPr/>
        </p:nvGrpSpPr>
        <p:grpSpPr>
          <a:xfrm>
            <a:off x="343622" y="28859912"/>
            <a:ext cx="9721959" cy="1756720"/>
            <a:chOff x="336440" y="28881303"/>
            <a:chExt cx="9721959" cy="1756720"/>
          </a:xfrm>
        </p:grpSpPr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F773F8E9-9BF6-3644-4117-73B8138A1392}"/>
                </a:ext>
              </a:extLst>
            </p:cNvPr>
            <p:cNvSpPr txBox="1"/>
            <p:nvPr/>
          </p:nvSpPr>
          <p:spPr>
            <a:xfrm>
              <a:off x="336440" y="28881303"/>
              <a:ext cx="4835677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1E6484"/>
                  </a:solidFill>
                  <a:effectLst/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Laser Output Frequency</a:t>
              </a:r>
              <a:endParaRPr lang="en-US" sz="3600" dirty="0">
                <a:solidFill>
                  <a:srgbClr val="1E6484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652601E-AE00-B814-D713-1F741C9DE148}"/>
                    </a:ext>
                  </a:extLst>
                </p:cNvPr>
                <p:cNvSpPr txBox="1"/>
                <p:nvPr/>
              </p:nvSpPr>
              <p:spPr>
                <a:xfrm>
                  <a:off x="343265" y="29437694"/>
                  <a:ext cx="9715134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>
                    <a:buNone/>
                  </a:pP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The output frequency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Helvetica Neue" panose="02000503000000020004" pitchFamily="2" charset="0"/>
                        </a:rPr>
                        <m:t>𝜈</m:t>
                      </m:r>
                    </m:oMath>
                  </a14:m>
                  <a:r>
                    <a:rPr lang="el-GR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 </a:t>
                  </a: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of an ECDL dependents on a combination of frequency-dependent gain and loss factors</a:t>
                  </a: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. T</a:t>
                  </a: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rPr>
                    <a:t>he product of these factors gives the total transmission function: 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A652601E-AE00-B814-D713-1F741C9DE14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3265" y="29437694"/>
                  <a:ext cx="9715134" cy="1200329"/>
                </a:xfrm>
                <a:prstGeom prst="rect">
                  <a:avLst/>
                </a:prstGeom>
                <a:blipFill>
                  <a:blip r:embed="rId12"/>
                  <a:stretch>
                    <a:fillRect l="-914" t="-5263"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2ABF65D-1B3D-A40A-B9D7-5B5239CC92E9}"/>
              </a:ext>
            </a:extLst>
          </p:cNvPr>
          <p:cNvGrpSpPr/>
          <p:nvPr/>
        </p:nvGrpSpPr>
        <p:grpSpPr>
          <a:xfrm>
            <a:off x="342036" y="19111478"/>
            <a:ext cx="9764046" cy="4453180"/>
            <a:chOff x="342036" y="19646780"/>
            <a:chExt cx="9764046" cy="4453180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26BB5DE9-EC45-405A-399E-E031C89D65DE}"/>
                </a:ext>
              </a:extLst>
            </p:cNvPr>
            <p:cNvGrpSpPr/>
            <p:nvPr/>
          </p:nvGrpSpPr>
          <p:grpSpPr>
            <a:xfrm>
              <a:off x="342036" y="19646780"/>
              <a:ext cx="9764046" cy="4453180"/>
              <a:chOff x="428269" y="18963977"/>
              <a:chExt cx="9764046" cy="4453180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1C857E1-1619-B51C-4E78-CB9A54ED4760}"/>
                  </a:ext>
                </a:extLst>
              </p:cNvPr>
              <p:cNvSpPr txBox="1"/>
              <p:nvPr/>
            </p:nvSpPr>
            <p:spPr>
              <a:xfrm>
                <a:off x="428269" y="18963977"/>
                <a:ext cx="8237973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600" b="1" dirty="0">
                    <a:solidFill>
                      <a:srgbClr val="1E6484"/>
                    </a:solidFill>
                    <a:effectLst/>
                    <a:latin typeface="Helvetica Neue Condensed" panose="02000503000000020004" pitchFamily="2" charset="0"/>
                    <a:ea typeface="Helvetica Neue Condensed" panose="02000503000000020004" pitchFamily="2" charset="0"/>
                    <a:cs typeface="Helvetica Neue Condensed" panose="02000503000000020004" pitchFamily="2" charset="0"/>
                  </a:rPr>
                  <a:t>Ultra-narrow Bandpass Interference Filter</a:t>
                </a:r>
                <a:endParaRPr lang="en-US" sz="3600" dirty="0">
                  <a:solidFill>
                    <a:srgbClr val="1E6484"/>
                  </a:solidFill>
                </a:endParaRPr>
              </a:p>
            </p:txBody>
          </p:sp>
          <p:pic>
            <p:nvPicPr>
              <p:cNvPr id="44" name="Picture 43" descr="A graph with lines and numbers&#10;&#10;AI-generated content may be incorrect.">
                <a:extLst>
                  <a:ext uri="{FF2B5EF4-FFF2-40B4-BE49-F238E27FC236}">
                    <a16:creationId xmlns:a16="http://schemas.microsoft.com/office/drawing/2014/main" id="{5C1659F2-CCD8-2B95-83AF-100B9CD8DD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683858" y="20597896"/>
                <a:ext cx="4283749" cy="2819261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C6626837-6D45-D33A-6B9E-9E30F82F3431}"/>
                      </a:ext>
                    </a:extLst>
                  </p:cNvPr>
                  <p:cNvSpPr txBox="1"/>
                  <p:nvPr/>
                </p:nvSpPr>
                <p:spPr>
                  <a:xfrm>
                    <a:off x="428270" y="19512144"/>
                    <a:ext cx="9764045" cy="193899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An optical filter that transmits light at specific wavelength (~1nm) using interference from multiple thin layers.</a:t>
                    </a:r>
                  </a:p>
                  <a:p>
                    <a:endParaRPr lang="en-US" sz="2400" dirty="0">
                      <a:latin typeface="Helvetica Neue" panose="02000503000000020004" pitchFamily="2" charset="0"/>
                      <a:ea typeface="Helvetica Neue" panose="02000503000000020004" pitchFamily="2" charset="0"/>
                      <a:cs typeface="Helvetica Neue" panose="02000503000000020004" pitchFamily="2" charset="0"/>
                    </a:endParaRPr>
                  </a:p>
                  <a:p>
                    <a:r>
                      <a: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The transmission window wavelength </a:t>
                    </a:r>
                  </a:p>
                  <a:p>
                    <a:r>
                      <a: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shift with incident angle </a:t>
                    </a:r>
                    <a14:m>
                      <m:oMath xmlns:m="http://schemas.openxmlformats.org/officeDocument/2006/math"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Helvetica Neue" panose="02000503000000020004" pitchFamily="2" charset="0"/>
                          </a:rPr>
                          <m:t>𝜃</m:t>
                        </m:r>
                      </m:oMath>
                    </a14:m>
                    <a:r>
                      <a:rPr lang="en-US" sz="2400" dirty="0">
                        <a:latin typeface="Helvetica Neue" panose="02000503000000020004" pitchFamily="2" charset="0"/>
                        <a:ea typeface="Helvetica Neue" panose="02000503000000020004" pitchFamily="2" charset="0"/>
                        <a:cs typeface="Helvetica Neue" panose="02000503000000020004" pitchFamily="2" charset="0"/>
                      </a:rPr>
                      <a:t>:</a:t>
                    </a: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C6626837-6D45-D33A-6B9E-9E30F82F343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270" y="19512144"/>
                    <a:ext cx="9764045" cy="193899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909" t="-2614" b="-653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7" name="Picture 26" descr="A square root of a square root of a square root of a square root of a square root of a square root of a square root of a square root of a square root of a square root&#10;&#10;AI-generated content may be incorrect.">
                <a:extLst>
                  <a:ext uri="{FF2B5EF4-FFF2-40B4-BE49-F238E27FC236}">
                    <a16:creationId xmlns:a16="http://schemas.microsoft.com/office/drawing/2014/main" id="{5200C838-3AF2-5031-4C86-8D08CC978E2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73548" y="21785605"/>
                <a:ext cx="3093189" cy="1136747"/>
              </a:xfrm>
              <a:prstGeom prst="rect">
                <a:avLst/>
              </a:prstGeom>
            </p:spPr>
          </p:pic>
        </p:grpSp>
        <p:pic>
          <p:nvPicPr>
            <p:cNvPr id="49" name="Picture 48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288FD2EC-2109-93DE-2B9C-5A30F7312D4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991503" y="21487432"/>
              <a:ext cx="692265" cy="388345"/>
            </a:xfrm>
            <a:prstGeom prst="rect">
              <a:avLst/>
            </a:prstGeom>
          </p:spPr>
        </p:pic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4CAB629-E988-F472-5E6C-283A997D0810}"/>
              </a:ext>
            </a:extLst>
          </p:cNvPr>
          <p:cNvGrpSpPr/>
          <p:nvPr/>
        </p:nvGrpSpPr>
        <p:grpSpPr>
          <a:xfrm>
            <a:off x="10091586" y="6808969"/>
            <a:ext cx="9667895" cy="13720696"/>
            <a:chOff x="10180309" y="7205334"/>
            <a:chExt cx="9667895" cy="13720696"/>
          </a:xfrm>
        </p:grpSpPr>
        <p:pic>
          <p:nvPicPr>
            <p:cNvPr id="5" name="Picture 4" descr="A yellow and black machine&#10;&#10;AI-generated content may be incorrect.">
              <a:extLst>
                <a:ext uri="{FF2B5EF4-FFF2-40B4-BE49-F238E27FC236}">
                  <a16:creationId xmlns:a16="http://schemas.microsoft.com/office/drawing/2014/main" id="{F5FA827F-B89F-1BB2-B79A-279A47989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371830" y="16140015"/>
              <a:ext cx="4759354" cy="4786015"/>
            </a:xfrm>
            <a:prstGeom prst="rect">
              <a:avLst/>
            </a:prstGeom>
          </p:spPr>
        </p:pic>
        <p:pic>
          <p:nvPicPr>
            <p:cNvPr id="7" name="Picture 6" descr="A yellow and black device&#10;&#10;AI-generated content may be incorrect.">
              <a:extLst>
                <a:ext uri="{FF2B5EF4-FFF2-40B4-BE49-F238E27FC236}">
                  <a16:creationId xmlns:a16="http://schemas.microsoft.com/office/drawing/2014/main" id="{1F6373E8-60ED-CE07-AF3B-D45497A495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15303662" y="16186667"/>
              <a:ext cx="4069294" cy="1802317"/>
            </a:xfrm>
            <a:prstGeom prst="rect">
              <a:avLst/>
            </a:prstGeom>
          </p:spPr>
        </p:pic>
        <p:pic>
          <p:nvPicPr>
            <p:cNvPr id="17" name="Picture 16" descr="A hand in blue glove holding a gold object&#10;&#10;AI-generated content may be incorrect.">
              <a:extLst>
                <a:ext uri="{FF2B5EF4-FFF2-40B4-BE49-F238E27FC236}">
                  <a16:creationId xmlns:a16="http://schemas.microsoft.com/office/drawing/2014/main" id="{E831ADE4-8018-849C-EF23-86ED928C5822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rcRect l="8451" t="14753" r="9197" b="12698"/>
            <a:stretch/>
          </p:blipFill>
          <p:spPr>
            <a:xfrm>
              <a:off x="15329100" y="18086780"/>
              <a:ext cx="4018417" cy="265502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3BD6A4F-3210-6FAC-4A07-DE0E0069F21D}"/>
                    </a:ext>
                  </a:extLst>
                </p:cNvPr>
                <p:cNvSpPr txBox="1"/>
                <p:nvPr/>
              </p:nvSpPr>
              <p:spPr>
                <a:xfrm>
                  <a:off x="10180309" y="7205334"/>
                  <a:ext cx="9630121" cy="23083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i="1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Design Principles</a:t>
                  </a:r>
                  <a:endParaRPr lang="en-US" sz="2400" b="1" i="1" dirty="0">
                    <a:solidFill>
                      <a:srgbClr val="000000"/>
                    </a:solidFill>
                    <a:latin typeface="Helvetica Neue" panose="02000503000000020004" pitchFamily="2" charset="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 waveplate + PBS allows tuning the feedback intensity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Self-aligning Cateye reflection geometry, mechanically robust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Frequency coarse tuning by changing diode temperature (100GHz)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Moderate tuning by changing laser diode current (10GHz)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Fine tuning by changing piezo voltage (&lt;1GHz)</a:t>
                  </a:r>
                </a:p>
              </p:txBody>
            </p:sp>
          </mc:Choice>
          <mc:Fallback xmlns="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A3BD6A4F-3210-6FAC-4A07-DE0E0069F2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0309" y="7205334"/>
                  <a:ext cx="9630121" cy="2308324"/>
                </a:xfrm>
                <a:prstGeom prst="rect">
                  <a:avLst/>
                </a:prstGeom>
                <a:blipFill>
                  <a:blip r:embed="rId21"/>
                  <a:stretch>
                    <a:fillRect l="-1054" t="-2186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D9D10B7A-3332-F66F-81C0-0EED91B4E3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10454162" y="9574643"/>
              <a:ext cx="9198620" cy="3538775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7651EC5-ABB4-ABBD-171D-1C6ADB0E0627}"/>
                    </a:ext>
                  </a:extLst>
                </p:cNvPr>
                <p:cNvSpPr txBox="1"/>
                <p:nvPr/>
              </p:nvSpPr>
              <p:spPr>
                <a:xfrm>
                  <a:off x="10218083" y="13371949"/>
                  <a:ext cx="9630121" cy="26776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i="1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CAD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Precise pitch and roll control of Cateye configuration allows finer tuning of alignment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1-inch-thick acrylic lid ensures system’s thermal stabilization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Slotted PBS and </a:t>
                  </a:r>
                  <a14:m>
                    <m:oMath xmlns:m="http://schemas.openxmlformats.org/officeDocument/2006/math">
                      <m:r>
                        <a:rPr lang="en-US" sz="240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r>
                        <a:rPr lang="en-US" sz="2400" b="0" i="1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/2</m:t>
                      </m:r>
                    </m:oMath>
                  </a14:m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 waveplate </a:t>
                  </a: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brass </a:t>
                  </a:r>
                  <a:r>
                    <a:rPr lang="en-US" sz="2400" dirty="0">
                      <a:solidFill>
                        <a:srgbClr val="000000"/>
                      </a:solidFill>
                      <a:effectLst/>
                      <a:latin typeface="Helvetica Neue" panose="02000503000000020004" pitchFamily="2" charset="0"/>
                    </a:rPr>
                    <a:t>spacer allows adjustment of their position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en-US" sz="2400" dirty="0">
                      <a:solidFill>
                        <a:srgbClr val="000000"/>
                      </a:solidFill>
                      <a:latin typeface="Helvetica Neue" panose="02000503000000020004" pitchFamily="2" charset="0"/>
                    </a:rPr>
                    <a:t>Brass base provides good thermal conductivity</a:t>
                  </a:r>
                  <a:endParaRPr lang="en-US" sz="2400" dirty="0">
                    <a:solidFill>
                      <a:srgbClr val="000000"/>
                    </a:solidFill>
                    <a:effectLst/>
                    <a:latin typeface="Helvetica Neue" panose="02000503000000020004" pitchFamily="2" charset="0"/>
                  </a:endParaRPr>
                </a:p>
              </p:txBody>
            </p:sp>
          </mc:Choice>
          <mc:Fallback xmlns="">
            <p:sp>
              <p:nvSpPr>
                <p:cNvPr id="67" name="TextBox 66">
                  <a:extLst>
                    <a:ext uri="{FF2B5EF4-FFF2-40B4-BE49-F238E27FC236}">
                      <a16:creationId xmlns:a16="http://schemas.microsoft.com/office/drawing/2014/main" id="{C7651EC5-ABB4-ABBD-171D-1C6ADB0E06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18083" y="13371949"/>
                  <a:ext cx="9630121" cy="2677656"/>
                </a:xfrm>
                <a:prstGeom prst="rect">
                  <a:avLst/>
                </a:prstGeom>
                <a:blipFill>
                  <a:blip r:embed="rId23"/>
                  <a:stretch>
                    <a:fillRect l="-922" t="-1887" r="-527" b="-37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2063BFE9-176B-8530-C984-6FA87089AAAF}"/>
              </a:ext>
            </a:extLst>
          </p:cNvPr>
          <p:cNvGrpSpPr/>
          <p:nvPr/>
        </p:nvGrpSpPr>
        <p:grpSpPr>
          <a:xfrm>
            <a:off x="10059995" y="1708976"/>
            <a:ext cx="9715134" cy="4260303"/>
            <a:chOff x="10059995" y="2308946"/>
            <a:chExt cx="9715134" cy="4260303"/>
          </a:xfrm>
        </p:grpSpPr>
        <p:pic>
          <p:nvPicPr>
            <p:cNvPr id="38" name="Picture 37" descr="A black text on a white background&#10;&#10;AI-generated content may be incorrect.">
              <a:extLst>
                <a:ext uri="{FF2B5EF4-FFF2-40B4-BE49-F238E27FC236}">
                  <a16:creationId xmlns:a16="http://schemas.microsoft.com/office/drawing/2014/main" id="{B6395BE7-4A83-CB8F-5C27-C251E34977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rcRect r="770"/>
            <a:stretch/>
          </p:blipFill>
          <p:spPr>
            <a:xfrm>
              <a:off x="12965658" y="2308946"/>
              <a:ext cx="3906194" cy="684609"/>
            </a:xfrm>
            <a:prstGeom prst="rect">
              <a:avLst/>
            </a:prstGeom>
          </p:spPr>
        </p:pic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65AA8FBE-07EE-1282-56B1-E34698769FF0}"/>
                </a:ext>
              </a:extLst>
            </p:cNvPr>
            <p:cNvSpPr txBox="1"/>
            <p:nvPr/>
          </p:nvSpPr>
          <p:spPr>
            <a:xfrm>
              <a:off x="10059995" y="2983708"/>
              <a:ext cx="971513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The laser will oscillate at the frequency for which the product of these factors is </a:t>
              </a:r>
              <a:r>
                <a:rPr lang="en-US" sz="2400" b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greatest</a:t>
              </a:r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.</a:t>
              </a:r>
            </a:p>
          </p:txBody>
        </p:sp>
        <p:pic>
          <p:nvPicPr>
            <p:cNvPr id="72" name="Picture 71">
              <a:extLst>
                <a:ext uri="{FF2B5EF4-FFF2-40B4-BE49-F238E27FC236}">
                  <a16:creationId xmlns:a16="http://schemas.microsoft.com/office/drawing/2014/main" id="{C6C20227-3A5D-950E-9F1D-C9414A165885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10850368" y="3821385"/>
              <a:ext cx="3802277" cy="2747864"/>
            </a:xfrm>
            <a:prstGeom prst="rect">
              <a:avLst/>
            </a:prstGeom>
          </p:spPr>
        </p:pic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BAC4F62C-12A0-17CA-E1B0-3754B23D89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15219266" y="3768138"/>
              <a:ext cx="3802277" cy="2744690"/>
            </a:xfrm>
            <a:prstGeom prst="rect">
              <a:avLst/>
            </a:prstGeom>
          </p:spPr>
        </p:pic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8EB7FCE0-F118-F81C-CC63-A525F22DAD8E}"/>
                </a:ext>
              </a:extLst>
            </p:cNvPr>
            <p:cNvSpPr/>
            <p:nvPr/>
          </p:nvSpPr>
          <p:spPr>
            <a:xfrm>
              <a:off x="12570679" y="3831115"/>
              <a:ext cx="427743" cy="1883702"/>
            </a:xfrm>
            <a:prstGeom prst="rect">
              <a:avLst/>
            </a:prstGeom>
            <a:solidFill>
              <a:srgbClr val="00BCD7">
                <a:alpha val="45106"/>
              </a:srgbClr>
            </a:solidFill>
            <a:ln w="19050">
              <a:solidFill>
                <a:srgbClr val="FAA32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C30858A-875E-3E7A-06C6-B4AB28E34096}"/>
                </a:ext>
              </a:extLst>
            </p:cNvPr>
            <p:cNvSpPr/>
            <p:nvPr/>
          </p:nvSpPr>
          <p:spPr>
            <a:xfrm>
              <a:off x="15158818" y="3700616"/>
              <a:ext cx="4088683" cy="2840237"/>
            </a:xfrm>
            <a:prstGeom prst="rect">
              <a:avLst/>
            </a:prstGeom>
            <a:solidFill>
              <a:srgbClr val="00BCD7">
                <a:alpha val="489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C70836F3-A3FE-8B7C-2DEE-B69ED1838682}"/>
                </a:ext>
              </a:extLst>
            </p:cNvPr>
            <p:cNvSpPr/>
            <p:nvPr/>
          </p:nvSpPr>
          <p:spPr>
            <a:xfrm>
              <a:off x="12997786" y="3700609"/>
              <a:ext cx="2163833" cy="2837815"/>
            </a:xfrm>
            <a:custGeom>
              <a:avLst/>
              <a:gdLst>
                <a:gd name="connsiteX0" fmla="*/ 0 w 4088683"/>
                <a:gd name="connsiteY0" fmla="*/ 0 h 2687087"/>
                <a:gd name="connsiteX1" fmla="*/ 4088683 w 4088683"/>
                <a:gd name="connsiteY1" fmla="*/ 0 h 2687087"/>
                <a:gd name="connsiteX2" fmla="*/ 4088683 w 4088683"/>
                <a:gd name="connsiteY2" fmla="*/ 2687087 h 2687087"/>
                <a:gd name="connsiteX3" fmla="*/ 0 w 4088683"/>
                <a:gd name="connsiteY3" fmla="*/ 2687087 h 2687087"/>
                <a:gd name="connsiteX4" fmla="*/ 0 w 4088683"/>
                <a:gd name="connsiteY4" fmla="*/ 0 h 2687087"/>
                <a:gd name="connsiteX0" fmla="*/ 82502 w 4088683"/>
                <a:gd name="connsiteY0" fmla="*/ 123754 h 2687087"/>
                <a:gd name="connsiteX1" fmla="*/ 4088683 w 4088683"/>
                <a:gd name="connsiteY1" fmla="*/ 0 h 2687087"/>
                <a:gd name="connsiteX2" fmla="*/ 4088683 w 4088683"/>
                <a:gd name="connsiteY2" fmla="*/ 2687087 h 2687087"/>
                <a:gd name="connsiteX3" fmla="*/ 0 w 4088683"/>
                <a:gd name="connsiteY3" fmla="*/ 2687087 h 2687087"/>
                <a:gd name="connsiteX4" fmla="*/ 82502 w 4088683"/>
                <a:gd name="connsiteY4" fmla="*/ 123754 h 2687087"/>
                <a:gd name="connsiteX0" fmla="*/ 0 w 4006181"/>
                <a:gd name="connsiteY0" fmla="*/ 123754 h 2687087"/>
                <a:gd name="connsiteX1" fmla="*/ 4006181 w 4006181"/>
                <a:gd name="connsiteY1" fmla="*/ 0 h 2687087"/>
                <a:gd name="connsiteX2" fmla="*/ 4006181 w 4006181"/>
                <a:gd name="connsiteY2" fmla="*/ 2687087 h 2687087"/>
                <a:gd name="connsiteX3" fmla="*/ 6875 w 4006181"/>
                <a:gd name="connsiteY3" fmla="*/ 2006444 h 2687087"/>
                <a:gd name="connsiteX4" fmla="*/ 0 w 4006181"/>
                <a:gd name="connsiteY4" fmla="*/ 123754 h 2687087"/>
                <a:gd name="connsiteX0" fmla="*/ 0 w 4006181"/>
                <a:gd name="connsiteY0" fmla="*/ 123754 h 2824590"/>
                <a:gd name="connsiteX1" fmla="*/ 4006181 w 4006181"/>
                <a:gd name="connsiteY1" fmla="*/ 0 h 2824590"/>
                <a:gd name="connsiteX2" fmla="*/ 2163630 w 4006181"/>
                <a:gd name="connsiteY2" fmla="*/ 2824590 h 2824590"/>
                <a:gd name="connsiteX3" fmla="*/ 6875 w 4006181"/>
                <a:gd name="connsiteY3" fmla="*/ 2006444 h 2824590"/>
                <a:gd name="connsiteX4" fmla="*/ 0 w 4006181"/>
                <a:gd name="connsiteY4" fmla="*/ 123754 h 2824590"/>
                <a:gd name="connsiteX0" fmla="*/ 0 w 2163631"/>
                <a:gd name="connsiteY0" fmla="*/ 130629 h 2831465"/>
                <a:gd name="connsiteX1" fmla="*/ 2163631 w 2163631"/>
                <a:gd name="connsiteY1" fmla="*/ 0 h 2831465"/>
                <a:gd name="connsiteX2" fmla="*/ 2163630 w 2163631"/>
                <a:gd name="connsiteY2" fmla="*/ 2831465 h 2831465"/>
                <a:gd name="connsiteX3" fmla="*/ 6875 w 2163631"/>
                <a:gd name="connsiteY3" fmla="*/ 2013319 h 2831465"/>
                <a:gd name="connsiteX4" fmla="*/ 0 w 2163631"/>
                <a:gd name="connsiteY4" fmla="*/ 130629 h 2831465"/>
                <a:gd name="connsiteX0" fmla="*/ 6156 w 2169787"/>
                <a:gd name="connsiteY0" fmla="*/ 130629 h 2831465"/>
                <a:gd name="connsiteX1" fmla="*/ 2169787 w 2169787"/>
                <a:gd name="connsiteY1" fmla="*/ 0 h 2831465"/>
                <a:gd name="connsiteX2" fmla="*/ 2169786 w 2169787"/>
                <a:gd name="connsiteY2" fmla="*/ 2831465 h 2831465"/>
                <a:gd name="connsiteX3" fmla="*/ 331 w 2169787"/>
                <a:gd name="connsiteY3" fmla="*/ 2013319 h 2831465"/>
                <a:gd name="connsiteX4" fmla="*/ 6156 w 2169787"/>
                <a:gd name="connsiteY4" fmla="*/ 130629 h 2831465"/>
                <a:gd name="connsiteX0" fmla="*/ 203 w 2170184"/>
                <a:gd name="connsiteY0" fmla="*/ 124279 h 2831465"/>
                <a:gd name="connsiteX1" fmla="*/ 2170184 w 2170184"/>
                <a:gd name="connsiteY1" fmla="*/ 0 h 2831465"/>
                <a:gd name="connsiteX2" fmla="*/ 2170183 w 2170184"/>
                <a:gd name="connsiteY2" fmla="*/ 2831465 h 2831465"/>
                <a:gd name="connsiteX3" fmla="*/ 728 w 2170184"/>
                <a:gd name="connsiteY3" fmla="*/ 2013319 h 2831465"/>
                <a:gd name="connsiteX4" fmla="*/ 203 w 2170184"/>
                <a:gd name="connsiteY4" fmla="*/ 124279 h 2831465"/>
                <a:gd name="connsiteX0" fmla="*/ 203 w 2170184"/>
                <a:gd name="connsiteY0" fmla="*/ 124279 h 2834640"/>
                <a:gd name="connsiteX1" fmla="*/ 2170184 w 2170184"/>
                <a:gd name="connsiteY1" fmla="*/ 0 h 2834640"/>
                <a:gd name="connsiteX2" fmla="*/ 2163833 w 2170184"/>
                <a:gd name="connsiteY2" fmla="*/ 2834640 h 2834640"/>
                <a:gd name="connsiteX3" fmla="*/ 728 w 2170184"/>
                <a:gd name="connsiteY3" fmla="*/ 2013319 h 2834640"/>
                <a:gd name="connsiteX4" fmla="*/ 203 w 2170184"/>
                <a:gd name="connsiteY4" fmla="*/ 124279 h 2834640"/>
                <a:gd name="connsiteX0" fmla="*/ 203 w 2163833"/>
                <a:gd name="connsiteY0" fmla="*/ 127454 h 2837815"/>
                <a:gd name="connsiteX1" fmla="*/ 2157484 w 2163833"/>
                <a:gd name="connsiteY1" fmla="*/ 0 h 2837815"/>
                <a:gd name="connsiteX2" fmla="*/ 2163833 w 2163833"/>
                <a:gd name="connsiteY2" fmla="*/ 2837815 h 2837815"/>
                <a:gd name="connsiteX3" fmla="*/ 728 w 2163833"/>
                <a:gd name="connsiteY3" fmla="*/ 2016494 h 2837815"/>
                <a:gd name="connsiteX4" fmla="*/ 203 w 2163833"/>
                <a:gd name="connsiteY4" fmla="*/ 127454 h 283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63833" h="2837815">
                  <a:moveTo>
                    <a:pt x="203" y="127454"/>
                  </a:moveTo>
                  <a:lnTo>
                    <a:pt x="2157484" y="0"/>
                  </a:lnTo>
                  <a:cubicBezTo>
                    <a:pt x="2157484" y="943822"/>
                    <a:pt x="2163833" y="1893993"/>
                    <a:pt x="2163833" y="2837815"/>
                  </a:cubicBezTo>
                  <a:lnTo>
                    <a:pt x="728" y="2016494"/>
                  </a:lnTo>
                  <a:cubicBezTo>
                    <a:pt x="-1564" y="1388931"/>
                    <a:pt x="2495" y="755017"/>
                    <a:pt x="203" y="127454"/>
                  </a:cubicBezTo>
                  <a:close/>
                </a:path>
              </a:pathLst>
            </a:custGeom>
            <a:gradFill>
              <a:gsLst>
                <a:gs pos="0">
                  <a:srgbClr val="00BCD7">
                    <a:alpha val="45000"/>
                  </a:srgbClr>
                </a:gs>
                <a:gs pos="100000">
                  <a:srgbClr val="00BCD7">
                    <a:alpha val="5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10BC09EC-26D3-1D17-14EE-058F63EDFA71}"/>
              </a:ext>
            </a:extLst>
          </p:cNvPr>
          <p:cNvSpPr txBox="1"/>
          <p:nvPr/>
        </p:nvSpPr>
        <p:spPr>
          <a:xfrm>
            <a:off x="10110474" y="21382568"/>
            <a:ext cx="963012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1" dirty="0">
                <a:solidFill>
                  <a:srgbClr val="000000"/>
                </a:solidFill>
                <a:latin typeface="Helvetica Neue" panose="02000503000000020004" pitchFamily="2" charset="0"/>
              </a:rPr>
              <a:t>Diode Current Scan, Piezo Voltage Scan, and Feedforward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Helvetica Neue" panose="02000503000000020004" pitchFamily="2" charset="0"/>
              </a:rPr>
              <a:t>Without feedforward (scanning current and voltage simultaneously at certain ratio), scanning current gives discrete steps, scanning voltage gives ~1.5GHz MHFTR, consistent with simulation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With feedforward, MHFTR ~12GHz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1B07232-E0E8-57DF-2784-3111D51B0CCC}"/>
              </a:ext>
            </a:extLst>
          </p:cNvPr>
          <p:cNvGrpSpPr/>
          <p:nvPr/>
        </p:nvGrpSpPr>
        <p:grpSpPr>
          <a:xfrm>
            <a:off x="10058399" y="26151347"/>
            <a:ext cx="9814999" cy="4812513"/>
            <a:chOff x="10058399" y="26029427"/>
            <a:chExt cx="9814999" cy="4812513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8BBD3F4-A0EF-CC91-56AA-1D5F70FCDD5E}"/>
                </a:ext>
              </a:extLst>
            </p:cNvPr>
            <p:cNvSpPr/>
            <p:nvPr/>
          </p:nvSpPr>
          <p:spPr>
            <a:xfrm>
              <a:off x="10058399" y="26029427"/>
              <a:ext cx="9762690" cy="540000"/>
            </a:xfrm>
            <a:prstGeom prst="rect">
              <a:avLst/>
            </a:prstGeom>
            <a:solidFill>
              <a:srgbClr val="1E64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600" b="1" dirty="0"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Outlook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BBE109E6-4A4F-03E3-1AC8-6EB9775BF7B8}"/>
                </a:ext>
              </a:extLst>
            </p:cNvPr>
            <p:cNvSpPr txBox="1"/>
            <p:nvPr/>
          </p:nvSpPr>
          <p:spPr>
            <a:xfrm>
              <a:off x="10110714" y="26553039"/>
              <a:ext cx="976268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solidFill>
                    <a:srgbClr val="000000"/>
                  </a:solidFill>
                  <a:effectLst/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Transfer Cavity for frequency stabilization and frequency shifting laser </a:t>
              </a: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D921B722-0A9B-01B0-65CC-0A644A056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rcRect l="5880" t="26361" r="7182" b="23092"/>
            <a:stretch/>
          </p:blipFill>
          <p:spPr>
            <a:xfrm>
              <a:off x="10168185" y="27062831"/>
              <a:ext cx="9190662" cy="3779109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F766E9D-3763-BC4C-A543-EA07580EFEF2}"/>
              </a:ext>
            </a:extLst>
          </p:cNvPr>
          <p:cNvGrpSpPr/>
          <p:nvPr/>
        </p:nvGrpSpPr>
        <p:grpSpPr>
          <a:xfrm>
            <a:off x="342036" y="23619536"/>
            <a:ext cx="9645146" cy="5038005"/>
            <a:chOff x="342036" y="23676686"/>
            <a:chExt cx="9645146" cy="5038005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EC6E845-8233-8FDB-6A6F-ED78C9F7C704}"/>
                </a:ext>
              </a:extLst>
            </p:cNvPr>
            <p:cNvSpPr txBox="1"/>
            <p:nvPr/>
          </p:nvSpPr>
          <p:spPr>
            <a:xfrm>
              <a:off x="342036" y="23676686"/>
              <a:ext cx="4802961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600" b="1" dirty="0">
                  <a:solidFill>
                    <a:srgbClr val="1E6484"/>
                  </a:solidFill>
                  <a:effectLst/>
                  <a:latin typeface="Helvetica Neue Condensed" panose="02000503000000020004" pitchFamily="2" charset="0"/>
                  <a:ea typeface="Helvetica Neue Condensed" panose="02000503000000020004" pitchFamily="2" charset="0"/>
                  <a:cs typeface="Helvetica Neue Condensed" panose="02000503000000020004" pitchFamily="2" charset="0"/>
                </a:rPr>
                <a:t>Cateye Retroreflector</a:t>
              </a:r>
              <a:endParaRPr lang="en-US" sz="3600" dirty="0">
                <a:solidFill>
                  <a:srgbClr val="1E6484"/>
                </a:solidFill>
              </a:endParaRP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DBE57A9-A869-10A6-7622-B4E0A0C4F397}"/>
                </a:ext>
              </a:extLst>
            </p:cNvPr>
            <p:cNvGrpSpPr/>
            <p:nvPr/>
          </p:nvGrpSpPr>
          <p:grpSpPr>
            <a:xfrm>
              <a:off x="5200832" y="25878199"/>
              <a:ext cx="4457415" cy="2516849"/>
              <a:chOff x="4493703" y="26068630"/>
              <a:chExt cx="4457415" cy="2516849"/>
            </a:xfrm>
          </p:grpSpPr>
          <p:sp>
            <p:nvSpPr>
              <p:cNvPr id="86" name="Rounded Rectangle 85">
                <a:extLst>
                  <a:ext uri="{FF2B5EF4-FFF2-40B4-BE49-F238E27FC236}">
                    <a16:creationId xmlns:a16="http://schemas.microsoft.com/office/drawing/2014/main" id="{9BD09280-F221-8B20-1F15-7577A017C7A6}"/>
                  </a:ext>
                </a:extLst>
              </p:cNvPr>
              <p:cNvSpPr/>
              <p:nvPr/>
            </p:nvSpPr>
            <p:spPr>
              <a:xfrm>
                <a:off x="7619656" y="26145007"/>
                <a:ext cx="1331462" cy="2231947"/>
              </a:xfrm>
              <a:prstGeom prst="roundRect">
                <a:avLst>
                  <a:gd name="adj" fmla="val 8951"/>
                </a:avLst>
              </a:prstGeom>
              <a:solidFill>
                <a:srgbClr val="00BCD7">
                  <a:alpha val="5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Rounded Rectangle 86">
                <a:extLst>
                  <a:ext uri="{FF2B5EF4-FFF2-40B4-BE49-F238E27FC236}">
                    <a16:creationId xmlns:a16="http://schemas.microsoft.com/office/drawing/2014/main" id="{57B8E03B-2B47-2B7E-C999-503F68A0B0E8}"/>
                  </a:ext>
                </a:extLst>
              </p:cNvPr>
              <p:cNvSpPr/>
              <p:nvPr/>
            </p:nvSpPr>
            <p:spPr>
              <a:xfrm rot="427374">
                <a:off x="4493703" y="26148000"/>
                <a:ext cx="815171" cy="2437479"/>
              </a:xfrm>
              <a:prstGeom prst="roundRect">
                <a:avLst>
                  <a:gd name="adj" fmla="val 8951"/>
                </a:avLst>
              </a:prstGeom>
              <a:solidFill>
                <a:srgbClr val="00BCD7">
                  <a:alpha val="51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79A373E2-3D7A-9963-A78D-5784A6DFC217}"/>
                  </a:ext>
                </a:extLst>
              </p:cNvPr>
              <p:cNvGrpSpPr/>
              <p:nvPr/>
            </p:nvGrpSpPr>
            <p:grpSpPr>
              <a:xfrm>
                <a:off x="4578267" y="26068630"/>
                <a:ext cx="4260286" cy="2507500"/>
                <a:chOff x="5293553" y="24605676"/>
                <a:chExt cx="4351645" cy="2624372"/>
              </a:xfrm>
            </p:grpSpPr>
            <p:pic>
              <p:nvPicPr>
                <p:cNvPr id="40" name="Picture 39" descr="A black background with yellow lines&#10;&#10;AI-generated content may be incorrect.">
                  <a:extLst>
                    <a:ext uri="{FF2B5EF4-FFF2-40B4-BE49-F238E27FC236}">
                      <a16:creationId xmlns:a16="http://schemas.microsoft.com/office/drawing/2014/main" id="{6033DC9F-DC93-B747-A60F-6680548BFBA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9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30">
                          <a14:imgEffect>
                            <a14:artisticPaintStrokes intensity="10"/>
                          </a14:imgEffect>
                          <a14:imgEffect>
                            <a14:saturation sat="400000"/>
                          </a14:imgEffect>
                        </a14:imgLayer>
                      </a14:imgProps>
                    </a:ext>
                  </a:extLst>
                </a:blip>
                <a:srcRect l="7375"/>
                <a:stretch/>
              </p:blipFill>
              <p:spPr>
                <a:xfrm>
                  <a:off x="5293553" y="24605676"/>
                  <a:ext cx="4338662" cy="2586847"/>
                </a:xfrm>
                <a:prstGeom prst="rect">
                  <a:avLst/>
                </a:prstGeom>
              </p:spPr>
            </p:pic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7C48E8BB-8801-FAF1-9BB3-9EB3F9DADBC4}"/>
                    </a:ext>
                  </a:extLst>
                </p:cNvPr>
                <p:cNvSpPr/>
                <p:nvPr/>
              </p:nvSpPr>
              <p:spPr>
                <a:xfrm>
                  <a:off x="5337097" y="25908300"/>
                  <a:ext cx="102009" cy="111978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9414FF4E-C298-2510-20CE-D16701262D01}"/>
                    </a:ext>
                  </a:extLst>
                </p:cNvPr>
                <p:cNvSpPr/>
                <p:nvPr/>
              </p:nvSpPr>
              <p:spPr>
                <a:xfrm>
                  <a:off x="5567066" y="24764958"/>
                  <a:ext cx="190401" cy="2465090"/>
                </a:xfrm>
                <a:prstGeom prst="ellipse">
                  <a:avLst/>
                </a:prstGeom>
                <a:solidFill>
                  <a:schemeClr val="bg2">
                    <a:lumMod val="75000"/>
                    <a:alpha val="54755"/>
                  </a:schemeClr>
                </a:solidFill>
                <a:ln>
                  <a:noFill/>
                </a:ln>
                <a:scene3d>
                  <a:camera prst="orthographicFront">
                    <a:rot lat="0" lon="0" rev="21150000"/>
                  </a:camera>
                  <a:lightRig rig="threePt" dir="t"/>
                </a:scene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F6DCDC03-DD33-7498-98E5-755ECD4067BC}"/>
                    </a:ext>
                  </a:extLst>
                </p:cNvPr>
                <p:cNvSpPr/>
                <p:nvPr/>
              </p:nvSpPr>
              <p:spPr>
                <a:xfrm>
                  <a:off x="8512303" y="24882683"/>
                  <a:ext cx="286369" cy="1942549"/>
                </a:xfrm>
                <a:prstGeom prst="ellipse">
                  <a:avLst/>
                </a:prstGeom>
                <a:solidFill>
                  <a:schemeClr val="bg2">
                    <a:lumMod val="75000"/>
                    <a:alpha val="54755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" name="Rectangle 51">
                  <a:extLst>
                    <a:ext uri="{FF2B5EF4-FFF2-40B4-BE49-F238E27FC236}">
                      <a16:creationId xmlns:a16="http://schemas.microsoft.com/office/drawing/2014/main" id="{C8C9E4A7-186A-A347-9E46-B46FFF28AFFE}"/>
                    </a:ext>
                  </a:extLst>
                </p:cNvPr>
                <p:cNvSpPr/>
                <p:nvPr/>
              </p:nvSpPr>
              <p:spPr>
                <a:xfrm>
                  <a:off x="9468915" y="24773580"/>
                  <a:ext cx="176283" cy="2174735"/>
                </a:xfrm>
                <a:prstGeom prst="rect">
                  <a:avLst/>
                </a:prstGeom>
                <a:solidFill>
                  <a:srgbClr val="1E6484">
                    <a:alpha val="46725"/>
                  </a:srgb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4EB17512-C203-5305-7B63-D94CEE87A1E3}"/>
                </a:ext>
              </a:extLst>
            </p:cNvPr>
            <p:cNvSpPr txBox="1"/>
            <p:nvPr/>
          </p:nvSpPr>
          <p:spPr>
            <a:xfrm>
              <a:off x="357053" y="24197008"/>
              <a:ext cx="9630129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 </a:t>
              </a:r>
              <a:r>
                <a:rPr lang="en-US" sz="2400" b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lens-mirror combination (Cateye) </a:t>
              </a:r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and a </a:t>
              </a:r>
              <a:r>
                <a:rPr lang="en-US" sz="2400" b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lens-source </a:t>
              </a:r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aligned facing each other, with the mirror/light source at the focal plane/point of the lens.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09C25D6-B5B5-04A5-1489-DAF12C50BD43}"/>
                </a:ext>
              </a:extLst>
            </p:cNvPr>
            <p:cNvSpPr txBox="1"/>
            <p:nvPr/>
          </p:nvSpPr>
          <p:spPr>
            <a:xfrm>
              <a:off x="572926" y="27514362"/>
              <a:ext cx="339852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i="1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Advantages: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Easy to align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Mechanically stable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A4422E6-B49B-DE36-EC83-F43C702EBD0D}"/>
                </a:ext>
              </a:extLst>
            </p:cNvPr>
            <p:cNvSpPr txBox="1"/>
            <p:nvPr/>
          </p:nvSpPr>
          <p:spPr>
            <a:xfrm>
              <a:off x="355710" y="25549358"/>
              <a:ext cx="4717347" cy="19389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dirty="0">
                  <a:latin typeface="Helvetica Neue" panose="02000503000000020004" pitchFamily="2" charset="0"/>
                  <a:ea typeface="Helvetica Neue" panose="02000503000000020004" pitchFamily="2" charset="0"/>
                  <a:cs typeface="Helvetica Neue" panose="02000503000000020004" pitchFamily="2" charset="0"/>
                </a:rPr>
                <a:t>Reflects any incoming collimated beam back to the source, regardless of their relative angle (provided the beam strikes the Cateye).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3553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2592</TotalTime>
  <Words>584</Words>
  <Application>Microsoft Macintosh PowerPoint</Application>
  <PresentationFormat>Custom</PresentationFormat>
  <Paragraphs>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Helvetica Neue</vt:lpstr>
      <vt:lpstr>Helvetica Neue Condensed</vt:lpstr>
      <vt:lpstr>Helvetica Neue Thin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Xi</dc:creator>
  <cp:lastModifiedBy>Robert Xi</cp:lastModifiedBy>
  <cp:revision>24</cp:revision>
  <dcterms:created xsi:type="dcterms:W3CDTF">2025-05-08T00:37:53Z</dcterms:created>
  <dcterms:modified xsi:type="dcterms:W3CDTF">2025-05-11T21:07:49Z</dcterms:modified>
</cp:coreProperties>
</file>